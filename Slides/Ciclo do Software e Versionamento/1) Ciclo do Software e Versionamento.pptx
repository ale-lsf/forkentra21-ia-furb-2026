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708AA-5517-433E-A3AC-B488FEF3DBF5}" v="2" dt="2026-03-31T00:49:45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legrego" userId="dda1244064eddf32" providerId="LiveId" clId="{CA81531F-D70F-4CDC-8D07-A71328B36680}"/>
    <pc:docChg chg="modSld">
      <pc:chgData name="Henrique Delegrego" userId="dda1244064eddf32" providerId="LiveId" clId="{CA81531F-D70F-4CDC-8D07-A71328B36680}" dt="2026-03-31T00:49:45.330" v="1" actId="1076"/>
      <pc:docMkLst>
        <pc:docMk/>
      </pc:docMkLst>
      <pc:sldChg chg="addSp modSp">
        <pc:chgData name="Henrique Delegrego" userId="dda1244064eddf32" providerId="LiveId" clId="{CA81531F-D70F-4CDC-8D07-A71328B36680}" dt="2026-03-31T00:49:45.330" v="1" actId="1076"/>
        <pc:sldMkLst>
          <pc:docMk/>
          <pc:sldMk cId="1652101634" sldId="256"/>
        </pc:sldMkLst>
        <pc:picChg chg="add mod">
          <ac:chgData name="Henrique Delegrego" userId="dda1244064eddf32" providerId="LiveId" clId="{CA81531F-D70F-4CDC-8D07-A71328B36680}" dt="2026-03-31T00:49:45.330" v="1" actId="1076"/>
          <ac:picMkLst>
            <pc:docMk/>
            <pc:sldMk cId="1652101634" sldId="256"/>
            <ac:picMk id="2" creationId="{30315D21-1867-3184-E9C4-67317A69A07A}"/>
          </ac:picMkLst>
        </pc:picChg>
        <pc:picChg chg="add mod">
          <ac:chgData name="Henrique Delegrego" userId="dda1244064eddf32" providerId="LiveId" clId="{CA81531F-D70F-4CDC-8D07-A71328B36680}" dt="2026-03-31T00:49:45.330" v="1" actId="1076"/>
          <ac:picMkLst>
            <pc:docMk/>
            <pc:sldMk cId="1652101634" sldId="256"/>
            <ac:picMk id="3" creationId="{7E39DE38-C7FF-BF47-EBD3-8B8F788343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TsaLQAetPLU?feature=oembed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834189" y="1723406"/>
            <a:ext cx="10523622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0315D21-1867-3184-E9C4-67317A69A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7" t="18699" r="11453" b="17221"/>
          <a:stretch>
            <a:fillRect/>
          </a:stretch>
        </p:blipFill>
        <p:spPr bwMode="auto">
          <a:xfrm>
            <a:off x="6664558" y="5474360"/>
            <a:ext cx="2304175" cy="7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Git - Logo Downloads">
            <a:extLst>
              <a:ext uri="{FF2B5EF4-FFF2-40B4-BE49-F238E27FC236}">
                <a16:creationId xmlns:a16="http://schemas.microsoft.com/office/drawing/2014/main" id="{7E39DE38-C7FF-BF47-EBD3-8B8F78834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730" y="5549448"/>
            <a:ext cx="1521849" cy="63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1D24-2543-078A-531F-69D6ED79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DBA718C-548F-5410-11C2-4E2548E93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The SIX Basic Steps of Software Development by KitelyTech">
            <a:extLst>
              <a:ext uri="{FF2B5EF4-FFF2-40B4-BE49-F238E27FC236}">
                <a16:creationId xmlns:a16="http://schemas.microsoft.com/office/drawing/2014/main" id="{20E2969B-AB1F-2653-1D4A-7A13E3994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3" t="1663" r="24139" b="1456"/>
          <a:stretch/>
        </p:blipFill>
        <p:spPr bwMode="auto">
          <a:xfrm>
            <a:off x="3159607" y="953411"/>
            <a:ext cx="4370589" cy="440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CADBD1-8A5E-ABA0-E7DD-5577AE57E3BC}"/>
              </a:ext>
            </a:extLst>
          </p:cNvPr>
          <p:cNvSpPr txBox="1"/>
          <p:nvPr/>
        </p:nvSpPr>
        <p:spPr>
          <a:xfrm>
            <a:off x="7158047" y="4736131"/>
            <a:ext cx="43705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Esse projeto: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possível ser feito a tempo?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Está dentro do orçamento?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Faz do zero ou compra uma solução?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Quais são os objetivos?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ACA55-932A-2C75-263E-A0F589296D6C}"/>
              </a:ext>
            </a:extLst>
          </p:cNvPr>
          <p:cNvSpPr txBox="1"/>
          <p:nvPr/>
        </p:nvSpPr>
        <p:spPr>
          <a:xfrm>
            <a:off x="1237789" y="5385562"/>
            <a:ext cx="1746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Casos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Estórias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2A9A488-4934-45C7-3888-E5A1061EDB14}"/>
              </a:ext>
            </a:extLst>
          </p:cNvPr>
          <p:cNvSpPr/>
          <p:nvPr/>
        </p:nvSpPr>
        <p:spPr>
          <a:xfrm rot="8414279">
            <a:off x="2898999" y="5163670"/>
            <a:ext cx="580028" cy="259935"/>
          </a:xfrm>
          <a:prstGeom prst="rightArrow">
            <a:avLst/>
          </a:prstGeom>
          <a:solidFill>
            <a:srgbClr val="293E6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6A5492-EEA5-07DC-088F-BDCD214F4E9D}"/>
              </a:ext>
            </a:extLst>
          </p:cNvPr>
          <p:cNvSpPr/>
          <p:nvPr/>
        </p:nvSpPr>
        <p:spPr>
          <a:xfrm rot="1433933">
            <a:off x="6580319" y="5185456"/>
            <a:ext cx="580028" cy="259935"/>
          </a:xfrm>
          <a:prstGeom prst="rightArrow">
            <a:avLst/>
          </a:prstGeom>
          <a:solidFill>
            <a:srgbClr val="B1292F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DC7E87-7839-EEC6-2965-E4063A413C95}"/>
              </a:ext>
            </a:extLst>
          </p:cNvPr>
          <p:cNvSpPr/>
          <p:nvPr/>
        </p:nvSpPr>
        <p:spPr>
          <a:xfrm rot="10800000">
            <a:off x="2500754" y="3366703"/>
            <a:ext cx="580028" cy="259935"/>
          </a:xfrm>
          <a:prstGeom prst="rightArrow">
            <a:avLst/>
          </a:prstGeom>
          <a:solidFill>
            <a:srgbClr val="0093D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DD136-CEF7-D841-FF4F-006BBF955421}"/>
              </a:ext>
            </a:extLst>
          </p:cNvPr>
          <p:cNvSpPr txBox="1"/>
          <p:nvPr/>
        </p:nvSpPr>
        <p:spPr>
          <a:xfrm>
            <a:off x="-1281" y="2979474"/>
            <a:ext cx="2743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feito o fluxograma, diagrama de classes 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Mockups das interfaces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97FF94A-E527-4ECB-6129-5DA15F33F8C6}"/>
              </a:ext>
            </a:extLst>
          </p:cNvPr>
          <p:cNvSpPr/>
          <p:nvPr/>
        </p:nvSpPr>
        <p:spPr>
          <a:xfrm rot="11663422">
            <a:off x="2765324" y="1202174"/>
            <a:ext cx="580028" cy="259935"/>
          </a:xfrm>
          <a:prstGeom prst="rightArrow">
            <a:avLst/>
          </a:prstGeom>
          <a:solidFill>
            <a:srgbClr val="0C9D8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E05089-68CB-2476-8BE5-21860F1A5D94}"/>
              </a:ext>
            </a:extLst>
          </p:cNvPr>
          <p:cNvSpPr txBox="1"/>
          <p:nvPr/>
        </p:nvSpPr>
        <p:spPr>
          <a:xfrm>
            <a:off x="803392" y="741791"/>
            <a:ext cx="2943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iniciada a programação do software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2E49E30-DC93-940D-D3AF-64A1EF9F3FE0}"/>
              </a:ext>
            </a:extLst>
          </p:cNvPr>
          <p:cNvSpPr/>
          <p:nvPr/>
        </p:nvSpPr>
        <p:spPr>
          <a:xfrm rot="20185108">
            <a:off x="6550243" y="999120"/>
            <a:ext cx="580028" cy="259935"/>
          </a:xfrm>
          <a:prstGeom prst="rightArrow">
            <a:avLst/>
          </a:prstGeom>
          <a:solidFill>
            <a:srgbClr val="EDB71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73673-2273-3429-DF64-3FBAB9FF2149}"/>
              </a:ext>
            </a:extLst>
          </p:cNvPr>
          <p:cNvSpPr txBox="1"/>
          <p:nvPr/>
        </p:nvSpPr>
        <p:spPr>
          <a:xfrm>
            <a:off x="7482627" y="112939"/>
            <a:ext cx="4068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São feitos os testes: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Disponibilidade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Compatibilidade e facilidade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Integração de módulos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703CFD3-1134-4FD9-3CAD-E0F0E23D5B7E}"/>
              </a:ext>
            </a:extLst>
          </p:cNvPr>
          <p:cNvSpPr/>
          <p:nvPr/>
        </p:nvSpPr>
        <p:spPr>
          <a:xfrm>
            <a:off x="7609021" y="3110014"/>
            <a:ext cx="580029" cy="259935"/>
          </a:xfrm>
          <a:prstGeom prst="rightArrow">
            <a:avLst/>
          </a:prstGeom>
          <a:solidFill>
            <a:srgbClr val="EF810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5ECE4-45B3-BC20-7B38-E93460121382}"/>
              </a:ext>
            </a:extLst>
          </p:cNvPr>
          <p:cNvSpPr txBox="1"/>
          <p:nvPr/>
        </p:nvSpPr>
        <p:spPr>
          <a:xfrm>
            <a:off x="8251429" y="2317588"/>
            <a:ext cx="38338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Processo de configurar e disponibilizar um software para os usuários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feita a comercialização do software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Correções de bugs menores são feitas nessa etapa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E11831-8F72-FAFE-BF15-A7E7FA451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4639" l="1017" r="91864">
                        <a14:foregroundMark x1="20678" y1="52577" x2="20000" y2="50928"/>
                        <a14:foregroundMark x1="19322" y1="52990" x2="21695" y2="49691"/>
                        <a14:foregroundMark x1="20000" y1="52165" x2="26102" y2="59588"/>
                        <a14:foregroundMark x1="36271" y1="49072" x2="38644" y2="56907"/>
                        <a14:foregroundMark x1="24746" y1="51959" x2="51186" y2="53402"/>
                        <a14:foregroundMark x1="29153" y1="50722" x2="56949" y2="55670"/>
                        <a14:foregroundMark x1="56949" y1="55670" x2="56949" y2="55670"/>
                        <a14:foregroundMark x1="67119" y1="49278" x2="75593" y2="53814"/>
                        <a14:foregroundMark x1="83051" y1="49691" x2="71186" y2="56701"/>
                        <a14:foregroundMark x1="77627" y1="52990" x2="71186" y2="55876"/>
                        <a14:foregroundMark x1="83390" y1="51753" x2="67458" y2="54845"/>
                        <a14:foregroundMark x1="69492" y1="52165" x2="43729" y2="55876"/>
                        <a14:foregroundMark x1="58305" y1="51134" x2="52203" y2="55670"/>
                        <a14:foregroundMark x1="32203" y1="63505" x2="55932" y2="59175"/>
                        <a14:foregroundMark x1="46441" y1="56907" x2="58305" y2="61443"/>
                        <a14:foregroundMark x1="36949" y1="65773" x2="19322" y2="70722"/>
                        <a14:foregroundMark x1="17627" y1="69485" x2="29831" y2="65773"/>
                        <a14:foregroundMark x1="16271" y1="69278" x2="54237" y2="66804"/>
                        <a14:foregroundMark x1="49831" y1="67629" x2="74915" y2="69072"/>
                        <a14:foregroundMark x1="74915" y1="69072" x2="75254" y2="68660"/>
                        <a14:foregroundMark x1="75932" y1="68041" x2="81356" y2="65155"/>
                        <a14:foregroundMark x1="71186" y1="69485" x2="71186" y2="48454"/>
                        <a14:foregroundMark x1="58983" y1="50103" x2="51186" y2="66804"/>
                        <a14:foregroundMark x1="55932" y1="53814" x2="52542" y2="66392"/>
                        <a14:foregroundMark x1="70169" y1="6804" x2="76271" y2="5567"/>
                        <a14:foregroundMark x1="73559" y1="1856" x2="73220" y2="1237"/>
                        <a14:foregroundMark x1="5424" y1="25979" x2="6441" y2="28247"/>
                        <a14:foregroundMark x1="1017" y1="72371" x2="3729" y2="72371"/>
                        <a14:foregroundMark x1="35932" y1="94845" x2="64746" y2="93402"/>
                        <a14:foregroundMark x1="91864" y1="46804" x2="88136" y2="494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190" y="2121869"/>
            <a:ext cx="1313831" cy="21600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167B2-E34D-5C7E-3C48-7EFFFA2A5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257" y="2884678"/>
            <a:ext cx="178757" cy="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1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 uiExpand="1"/>
      <p:bldP spid="15" grpId="0" animBg="1"/>
      <p:bldP spid="16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8F14-6AA4-0DA3-8A70-47B95CDC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3B0613-4653-597B-5CE8-C5F00A1C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E06EEDE2-1984-AF8D-F629-152DA10ACDDB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A9B7AFC-6B77-0860-032A-5B88DF4B7A0D}"/>
              </a:ext>
            </a:extLst>
          </p:cNvPr>
          <p:cNvSpPr txBox="1">
            <a:spLocks/>
          </p:cNvSpPr>
          <p:nvPr/>
        </p:nvSpPr>
        <p:spPr>
          <a:xfrm>
            <a:off x="723890" y="4515483"/>
            <a:ext cx="5921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BAB338-1FA7-F4FE-8598-B156B475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1" t="25748" r="51881" b="21745"/>
          <a:stretch/>
        </p:blipFill>
        <p:spPr>
          <a:xfrm>
            <a:off x="1607619" y="4466239"/>
            <a:ext cx="1033272" cy="5232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1F2F7D-81DB-7D25-5566-4903C3F2FCD4}"/>
              </a:ext>
            </a:extLst>
          </p:cNvPr>
          <p:cNvSpPr txBox="1"/>
          <p:nvPr/>
        </p:nvSpPr>
        <p:spPr>
          <a:xfrm>
            <a:off x="0" y="5137683"/>
            <a:ext cx="735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uma ferramenta de versionamento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3B2B770-3FF9-8959-8825-00C41154D3CA}"/>
              </a:ext>
            </a:extLst>
          </p:cNvPr>
          <p:cNvSpPr txBox="1">
            <a:spLocks/>
          </p:cNvSpPr>
          <p:nvPr/>
        </p:nvSpPr>
        <p:spPr>
          <a:xfrm>
            <a:off x="667386" y="1182668"/>
            <a:ext cx="2214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Versionamento</a:t>
            </a:r>
          </a:p>
        </p:txBody>
      </p:sp>
      <p:pic>
        <p:nvPicPr>
          <p:cNvPr id="21" name="Picture 2" descr="Top 5 Open Source Version Control Tools for System Admins">
            <a:extLst>
              <a:ext uri="{FF2B5EF4-FFF2-40B4-BE49-F238E27FC236}">
                <a16:creationId xmlns:a16="http://schemas.microsoft.com/office/drawing/2014/main" id="{32A6C78E-1066-1D47-613C-C8317C6736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31339" r="1414" b="21200"/>
          <a:stretch/>
        </p:blipFill>
        <p:spPr bwMode="auto">
          <a:xfrm>
            <a:off x="3237921" y="1124438"/>
            <a:ext cx="2214917" cy="54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168D61-50AC-9915-EE2F-E360D180F7D1}"/>
              </a:ext>
            </a:extLst>
          </p:cNvPr>
          <p:cNvSpPr txBox="1"/>
          <p:nvPr/>
        </p:nvSpPr>
        <p:spPr>
          <a:xfrm>
            <a:off x="0" y="1943257"/>
            <a:ext cx="1012371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Responsável por gerenciar alterações em programas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À medida que as equipes desenvolvem, é comum que várias versões do mesmo software sejam implementadas em locais diferentes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que várias pessoas trabalhem em um mesmo projeto</a:t>
            </a:r>
          </a:p>
        </p:txBody>
      </p:sp>
    </p:spTree>
    <p:extLst>
      <p:ext uri="{BB962C8B-B14F-4D97-AF65-F5344CB8AC3E}">
        <p14:creationId xmlns:p14="http://schemas.microsoft.com/office/powerpoint/2010/main" val="380977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E31B-C08D-B884-4FE6-BFB49383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A253806-0C9F-ADF3-3576-D5D7923E0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F786CF17-2D55-B372-071E-1D803EB0D37E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5B07833-2107-126E-E44B-33CC4E44411F}"/>
              </a:ext>
            </a:extLst>
          </p:cNvPr>
          <p:cNvSpPr txBox="1">
            <a:spLocks/>
          </p:cNvSpPr>
          <p:nvPr/>
        </p:nvSpPr>
        <p:spPr>
          <a:xfrm>
            <a:off x="691708" y="1309091"/>
            <a:ext cx="111843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7055AC-FE16-853C-698A-B5D8D1B9FFBC}"/>
              </a:ext>
            </a:extLst>
          </p:cNvPr>
          <p:cNvSpPr txBox="1"/>
          <p:nvPr/>
        </p:nvSpPr>
        <p:spPr>
          <a:xfrm>
            <a:off x="-1" y="2055426"/>
            <a:ext cx="106182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a ferramenta de versionamento mais usada no mundo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 concorrentes como o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GitLab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Atlassian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BitBucket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vários outros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20E9D9-28F9-F950-CD6C-9B35A69E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789" t="5133" r="4976" b="9396"/>
          <a:stretch/>
        </p:blipFill>
        <p:spPr>
          <a:xfrm>
            <a:off x="1943612" y="1168334"/>
            <a:ext cx="675529" cy="677533"/>
          </a:xfrm>
          <a:prstGeom prst="rect">
            <a:avLst/>
          </a:prstGeom>
        </p:spPr>
      </p:pic>
      <p:pic>
        <p:nvPicPr>
          <p:cNvPr id="20" name="Online Media 3" title="Como personalizar o seu perfil no Github (Readme)">
            <a:hlinkClick r:id="" action="ppaction://media"/>
            <a:extLst>
              <a:ext uri="{FF2B5EF4-FFF2-40B4-BE49-F238E27FC236}">
                <a16:creationId xmlns:a16="http://schemas.microsoft.com/office/drawing/2014/main" id="{ACF5F2FE-9972-03D6-AC3E-9AB3544E87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520429" y="4066767"/>
            <a:ext cx="3402650" cy="19139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39A80D-339A-CCE4-C467-4330325D8C18}"/>
              </a:ext>
            </a:extLst>
          </p:cNvPr>
          <p:cNvSpPr txBox="1"/>
          <p:nvPr/>
        </p:nvSpPr>
        <p:spPr>
          <a:xfrm>
            <a:off x="7563281" y="3530353"/>
            <a:ext cx="3316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Vídeo que eu recomendo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B73E45-560D-F546-0DEC-2413ED344C5E}"/>
              </a:ext>
            </a:extLst>
          </p:cNvPr>
          <p:cNvSpPr txBox="1"/>
          <p:nvPr/>
        </p:nvSpPr>
        <p:spPr>
          <a:xfrm>
            <a:off x="1" y="3686483"/>
            <a:ext cx="5094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uma conta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Personalizar o nosso perfil</a:t>
            </a:r>
          </a:p>
        </p:txBody>
      </p:sp>
    </p:spTree>
    <p:extLst>
      <p:ext uri="{BB962C8B-B14F-4D97-AF65-F5344CB8AC3E}">
        <p14:creationId xmlns:p14="http://schemas.microsoft.com/office/powerpoint/2010/main" val="174892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  <p:bldLst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0708-B08B-E77B-C8C9-E5E48D52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B6A1CB-3CFD-AD15-76F8-4068AF491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0284337A-9227-D4E7-CEEC-24871DEA2B16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4EC3748-9402-2550-AF57-FEB4C23F1239}"/>
              </a:ext>
            </a:extLst>
          </p:cNvPr>
          <p:cNvSpPr txBox="1">
            <a:spLocks/>
          </p:cNvSpPr>
          <p:nvPr/>
        </p:nvSpPr>
        <p:spPr>
          <a:xfrm>
            <a:off x="734787" y="823854"/>
            <a:ext cx="255399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Repositório (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Repo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DF63B-BED6-0366-6005-EEBDC948AB77}"/>
              </a:ext>
            </a:extLst>
          </p:cNvPr>
          <p:cNvSpPr txBox="1"/>
          <p:nvPr/>
        </p:nvSpPr>
        <p:spPr>
          <a:xfrm>
            <a:off x="0" y="1248586"/>
            <a:ext cx="941201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onde são armazenados arquivos e pastas relacionados a um projeto específico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Armazena o histórico completo do projeto, incluindo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branches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merges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reverter para versões anteriores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Não deve ser salvo arquivos de build (módulos,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classfiles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jars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esses arquivos deverão ser mencionados no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Segue o padrão de nomenclatura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kebab-case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Separação de palavras com hífen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Caracteres em minúsculo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Evite caracteres especiais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Evite começar o nome do repositório com números</a:t>
            </a:r>
          </a:p>
        </p:txBody>
      </p:sp>
      <p:pic>
        <p:nvPicPr>
          <p:cNvPr id="13" name="Picture 12" descr="Git 101: What's a Git Repository and How to Create it? | by S.J. | An Idea  (by Ingenious Piece) | Medium">
            <a:extLst>
              <a:ext uri="{FF2B5EF4-FFF2-40B4-BE49-F238E27FC236}">
                <a16:creationId xmlns:a16="http://schemas.microsoft.com/office/drawing/2014/main" id="{C00D0A64-E665-4C66-21F1-9C6B7D19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7" t="14840" r="10256" b="11339"/>
          <a:stretch>
            <a:fillRect/>
          </a:stretch>
        </p:blipFill>
        <p:spPr bwMode="auto">
          <a:xfrm>
            <a:off x="10131901" y="2668555"/>
            <a:ext cx="1745967" cy="161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09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6D89-06D2-EA71-761C-1136FF8F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0F55D7-3CE8-0F11-29A0-8FEDBB9C5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09515AD4-6956-5E51-1588-A5B865F71FDF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5F54D2C-07EC-DCAC-F1A8-582B2555B4C6}"/>
              </a:ext>
            </a:extLst>
          </p:cNvPr>
          <p:cNvSpPr txBox="1">
            <a:spLocks/>
          </p:cNvSpPr>
          <p:nvPr/>
        </p:nvSpPr>
        <p:spPr>
          <a:xfrm>
            <a:off x="718614" y="990147"/>
            <a:ext cx="140192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409D4-8E35-B7A3-9093-9E2A98E37A46}"/>
              </a:ext>
            </a:extLst>
          </p:cNvPr>
          <p:cNvSpPr txBox="1"/>
          <p:nvPr/>
        </p:nvSpPr>
        <p:spPr>
          <a:xfrm>
            <a:off x="0" y="1798428"/>
            <a:ext cx="8332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Arquivo de texto, que geralmente fica na raiz do projeto, que indica quais arquivos, pastas ou caminhos devem ser ignorados intencionalmente</a:t>
            </a:r>
          </a:p>
        </p:txBody>
      </p:sp>
      <p:pic>
        <p:nvPicPr>
          <p:cNvPr id="15" name="Picture 2" descr="gitignore: How Does it Work? - Designveloper">
            <a:extLst>
              <a:ext uri="{FF2B5EF4-FFF2-40B4-BE49-F238E27FC236}">
                <a16:creationId xmlns:a16="http://schemas.microsoft.com/office/drawing/2014/main" id="{0C6BBC94-DA60-6BC6-F7EC-D560DDCFA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r="22090" b="13196"/>
          <a:stretch>
            <a:fillRect/>
          </a:stretch>
        </p:blipFill>
        <p:spPr bwMode="auto">
          <a:xfrm>
            <a:off x="8948529" y="1159174"/>
            <a:ext cx="3045245" cy="153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956B05-DFDE-F960-3690-5298840C4417}"/>
              </a:ext>
            </a:extLst>
          </p:cNvPr>
          <p:cNvSpPr txBox="1"/>
          <p:nvPr/>
        </p:nvSpPr>
        <p:spPr>
          <a:xfrm>
            <a:off x="0" y="2998757"/>
            <a:ext cx="1165393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Seu principal objetivo é manter artefatos de compilação, configurações do editor e outros ruídos fora do repositório, para que os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permaneçam limpos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ignorar um arquivo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específico, basta escrever o nome dele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Pastas são ignoradas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escrevendo o nome da pasta seguido por uma barra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ignorar extensões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use, por exemplo: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*.log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instrui o Git a ignorar todos os arquivos que terminam em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.log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independentemente do nome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Linhas que começam com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são ignoradas (comentários)</a:t>
            </a:r>
          </a:p>
        </p:txBody>
      </p:sp>
    </p:spTree>
    <p:extLst>
      <p:ext uri="{BB962C8B-B14F-4D97-AF65-F5344CB8AC3E}">
        <p14:creationId xmlns:p14="http://schemas.microsoft.com/office/powerpoint/2010/main" val="156684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24555-F845-8DF4-B447-558A34DF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BC884ED-A89D-8810-8992-F9626FF5D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913EF4FD-3023-70FD-3432-94038E8CF2EF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2AD8473-20F3-8DA2-80FF-B490EC62A5DC}"/>
              </a:ext>
            </a:extLst>
          </p:cNvPr>
          <p:cNvSpPr txBox="1">
            <a:spLocks/>
          </p:cNvSpPr>
          <p:nvPr/>
        </p:nvSpPr>
        <p:spPr>
          <a:xfrm>
            <a:off x="732190" y="1188180"/>
            <a:ext cx="132261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README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71246-6F9A-30F2-4E01-D3AD77366A78}"/>
              </a:ext>
            </a:extLst>
          </p:cNvPr>
          <p:cNvSpPr txBox="1"/>
          <p:nvPr/>
        </p:nvSpPr>
        <p:spPr>
          <a:xfrm>
            <a:off x="0" y="1933394"/>
            <a:ext cx="7021286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Arquivo de texto que fornece informações sobre o repositório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 como ponto de entrada principal para usuários e colaboradores, oferecendo uma visão geral do projeto, além de instruções sobre como utilizá-lo, contribuir ou configurá-lo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3450B5-3F88-E07F-F74E-6BE27E6E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745444"/>
            <a:ext cx="2915110" cy="54797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4DA980-F468-17D0-4D57-23476BF7E030}"/>
              </a:ext>
            </a:extLst>
          </p:cNvPr>
          <p:cNvSpPr txBox="1"/>
          <p:nvPr/>
        </p:nvSpPr>
        <p:spPr>
          <a:xfrm>
            <a:off x="0" y="5031183"/>
            <a:ext cx="509451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repositório e fazer o push de um arquivo</a:t>
            </a:r>
          </a:p>
        </p:txBody>
      </p:sp>
    </p:spTree>
    <p:extLst>
      <p:ext uri="{BB962C8B-B14F-4D97-AF65-F5344CB8AC3E}">
        <p14:creationId xmlns:p14="http://schemas.microsoft.com/office/powerpoint/2010/main" val="172303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E27F-E3CD-C692-EBB3-96E93F6A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FEDF57-012B-F2A2-9545-C934550E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4C306CE-EB21-2D50-B2B9-C1E18FACDA79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3C13A49-471B-3B18-F22A-4980CCEF299B}"/>
              </a:ext>
            </a:extLst>
          </p:cNvPr>
          <p:cNvSpPr txBox="1">
            <a:spLocks/>
          </p:cNvSpPr>
          <p:nvPr/>
        </p:nvSpPr>
        <p:spPr>
          <a:xfrm>
            <a:off x="698007" y="1164461"/>
            <a:ext cx="179736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Staging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AF851-1766-132D-45B3-9D363C96D4DB}"/>
              </a:ext>
            </a:extLst>
          </p:cNvPr>
          <p:cNvSpPr txBox="1"/>
          <p:nvPr/>
        </p:nvSpPr>
        <p:spPr>
          <a:xfrm>
            <a:off x="-1" y="2008209"/>
            <a:ext cx="111351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 como um espaço intermediário entre o diretório de trabalho e o repositório onde você escolhe as alterações que deseja incluir no próximo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selecionar com precisão o que será incluído no próximo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Facilita a organização das mudanças, especialmente em projetos grandes ou com muitas alterações simultâneas</a:t>
            </a:r>
          </a:p>
        </p:txBody>
      </p:sp>
    </p:spTree>
    <p:extLst>
      <p:ext uri="{BB962C8B-B14F-4D97-AF65-F5344CB8AC3E}">
        <p14:creationId xmlns:p14="http://schemas.microsoft.com/office/powerpoint/2010/main" val="354983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79C7-0F22-1151-CEBE-1CCABA2F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F16726-B10D-C256-72B2-2A8B06826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E6355BB-AE0C-6585-32D7-9B7E09CB100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045B56B-AA40-6C07-A8C3-F1681958D659}"/>
              </a:ext>
            </a:extLst>
          </p:cNvPr>
          <p:cNvSpPr txBox="1">
            <a:spLocks/>
          </p:cNvSpPr>
          <p:nvPr/>
        </p:nvSpPr>
        <p:spPr>
          <a:xfrm>
            <a:off x="684055" y="745444"/>
            <a:ext cx="118747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95E37-FA6A-3FA8-2D7E-BD4A7674AED5}"/>
              </a:ext>
            </a:extLst>
          </p:cNvPr>
          <p:cNvSpPr txBox="1"/>
          <p:nvPr/>
        </p:nvSpPr>
        <p:spPr>
          <a:xfrm>
            <a:off x="0" y="1396378"/>
            <a:ext cx="1169125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Salva as mudanças feitas no projeto, seja adições, edições, exclusões ou movimentações de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commit é acompanhado por uma mensagem que fornece uma descrição concisa do que foi alterado ou adicionado no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convenção é usar: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Inglês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Imperativo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bug”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Português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 do indicativo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“conserta bug”</a:t>
            </a:r>
          </a:p>
        </p:txBody>
      </p:sp>
    </p:spTree>
    <p:extLst>
      <p:ext uri="{BB962C8B-B14F-4D97-AF65-F5344CB8AC3E}">
        <p14:creationId xmlns:p14="http://schemas.microsoft.com/office/powerpoint/2010/main" val="3988556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0C58-088D-88C1-53AD-770BAA65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C66DC3-4677-EFA7-BD34-8381B88B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035C651-EA1E-2079-C0CE-AAB717A275D0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84AB405-D5AF-71E0-8888-5FEEF2DECBC3}"/>
              </a:ext>
            </a:extLst>
          </p:cNvPr>
          <p:cNvSpPr txBox="1">
            <a:spLocks/>
          </p:cNvSpPr>
          <p:nvPr/>
        </p:nvSpPr>
        <p:spPr>
          <a:xfrm>
            <a:off x="678265" y="1074077"/>
            <a:ext cx="305900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Mensagem de commit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1676D-2D02-7F30-C5F2-B1FCD67DDAD5}"/>
              </a:ext>
            </a:extLst>
          </p:cNvPr>
          <p:cNvSpPr txBox="1"/>
          <p:nvPr/>
        </p:nvSpPr>
        <p:spPr>
          <a:xfrm>
            <a:off x="0" y="1636201"/>
            <a:ext cx="11215396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Além do texto da mensagem é comum colocar o tipo do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 de mudança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Nova funcionalidade -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feat: adiciona suporte a login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Correção de bug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corrige alinhamento de botão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Reestruturação de código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simplifica tratamento de erros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Mudanças na documentação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atualiza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 banco de dados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Adição de comentários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adiciona comentários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Indentação e separação de linhas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remove linha em branco</a:t>
            </a:r>
          </a:p>
        </p:txBody>
      </p:sp>
    </p:spTree>
    <p:extLst>
      <p:ext uri="{BB962C8B-B14F-4D97-AF65-F5344CB8AC3E}">
        <p14:creationId xmlns:p14="http://schemas.microsoft.com/office/powerpoint/2010/main" val="230248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E89A-471E-8FA3-7545-0895F92B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28B47DF-DF31-0908-A316-4A53B1B3B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D054A4D8-BBEA-154E-3338-4444BE16DDBB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EC64CBE-0C2F-856A-3CDC-C9410CA454FC}"/>
              </a:ext>
            </a:extLst>
          </p:cNvPr>
          <p:cNvSpPr txBox="1">
            <a:spLocks/>
          </p:cNvSpPr>
          <p:nvPr/>
        </p:nvSpPr>
        <p:spPr>
          <a:xfrm>
            <a:off x="591642" y="1147369"/>
            <a:ext cx="15704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CE66C-EA93-33B2-58A4-64856D0FE4DF}"/>
              </a:ext>
            </a:extLst>
          </p:cNvPr>
          <p:cNvSpPr txBox="1"/>
          <p:nvPr/>
        </p:nvSpPr>
        <p:spPr>
          <a:xfrm>
            <a:off x="-2" y="2008209"/>
            <a:ext cx="1198975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Ação de fazer upload da sua versão local para um repositório, disponibilizando suas alterações para outros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fazer download das alterações de um repositório para a sua versão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buscar e integrar mudanças do repositório remoto para o seu branch local</a:t>
            </a:r>
          </a:p>
        </p:txBody>
      </p:sp>
    </p:spTree>
    <p:extLst>
      <p:ext uri="{BB962C8B-B14F-4D97-AF65-F5344CB8AC3E}">
        <p14:creationId xmlns:p14="http://schemas.microsoft.com/office/powerpoint/2010/main" val="165907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F055-9FD3-C9DA-2CA2-11BE2CFF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B114B28-4784-6ACF-439A-CD193A551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196D4BD-42E1-8F43-AA97-6E4DF004AC13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1C76DB5-7509-D6B5-C502-FD3C874E150D}"/>
              </a:ext>
            </a:extLst>
          </p:cNvPr>
          <p:cNvSpPr txBox="1">
            <a:spLocks/>
          </p:cNvSpPr>
          <p:nvPr/>
        </p:nvSpPr>
        <p:spPr>
          <a:xfrm>
            <a:off x="722984" y="1478999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CAFEA-B3D4-24D0-08BC-6BB96A1A571D}"/>
              </a:ext>
            </a:extLst>
          </p:cNvPr>
          <p:cNvSpPr txBox="1"/>
          <p:nvPr/>
        </p:nvSpPr>
        <p:spPr>
          <a:xfrm>
            <a:off x="-1" y="2208183"/>
            <a:ext cx="7973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checar se você tem o Git instalado na sua máquina, abra o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digite: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--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201BAE-A3F8-C170-9CFC-A0AF5FCA0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276" y="3429000"/>
            <a:ext cx="6181448" cy="246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2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B133-448D-5517-850E-E3C707DE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3D5C26-5C0B-079A-5BE6-E8F1845B7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D797A38-350B-7530-63CB-11D5B9A72E4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A395F64-49DC-9EB8-144D-62E20305BEE5}"/>
              </a:ext>
            </a:extLst>
          </p:cNvPr>
          <p:cNvSpPr txBox="1">
            <a:spLocks/>
          </p:cNvSpPr>
          <p:nvPr/>
        </p:nvSpPr>
        <p:spPr>
          <a:xfrm>
            <a:off x="638137" y="969677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E28EA-3838-0E22-D51D-ED249DB35E51}"/>
              </a:ext>
            </a:extLst>
          </p:cNvPr>
          <p:cNvSpPr txBox="1"/>
          <p:nvPr/>
        </p:nvSpPr>
        <p:spPr>
          <a:xfrm>
            <a:off x="0" y="1685669"/>
            <a:ext cx="889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você não tenha instalado, acesse o site do Git para baixar</a:t>
            </a:r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92796A78-C7A4-0245-C789-5005C10B0F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8"/>
          <a:stretch>
            <a:fillRect/>
          </a:stretch>
        </p:blipFill>
        <p:spPr>
          <a:xfrm>
            <a:off x="3650172" y="2610960"/>
            <a:ext cx="4891655" cy="34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9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A315-A2FD-7531-6DEA-1A2B0A8F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CE370C-E7EB-435A-A180-BE03DE03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0E25AF8-9DD7-EB0B-84F2-4CEF4B1546E7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CCFEE0B-9EB5-2C68-C0AC-6EC8555365BC}"/>
              </a:ext>
            </a:extLst>
          </p:cNvPr>
          <p:cNvSpPr txBox="1">
            <a:spLocks/>
          </p:cNvSpPr>
          <p:nvPr/>
        </p:nvSpPr>
        <p:spPr>
          <a:xfrm>
            <a:off x="669318" y="756745"/>
            <a:ext cx="472377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na nuvem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1CA75-42AB-8319-3CE0-5CC985BF3806}"/>
              </a:ext>
            </a:extLst>
          </p:cNvPr>
          <p:cNvSpPr txBox="1"/>
          <p:nvPr/>
        </p:nvSpPr>
        <p:spPr>
          <a:xfrm>
            <a:off x="0" y="1320527"/>
            <a:ext cx="1180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Assim que um repositório no GitHub é criado, essa tela aparece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8759B-A83F-1822-F6BF-01A348209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613" y="1921242"/>
            <a:ext cx="5756330" cy="3723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64A0EE-1A02-A6A1-BC8E-C6A2DAA7F9CD}"/>
              </a:ext>
            </a:extLst>
          </p:cNvPr>
          <p:cNvSpPr txBox="1"/>
          <p:nvPr/>
        </p:nvSpPr>
        <p:spPr>
          <a:xfrm>
            <a:off x="0" y="5468137"/>
            <a:ext cx="60960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repositório no GitHub</a:t>
            </a:r>
          </a:p>
        </p:txBody>
      </p:sp>
    </p:spTree>
    <p:extLst>
      <p:ext uri="{BB962C8B-B14F-4D97-AF65-F5344CB8AC3E}">
        <p14:creationId xmlns:p14="http://schemas.microsoft.com/office/powerpoint/2010/main" val="147160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99216-7A69-0DB7-7D58-A31DD2AE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E675283-384C-55B5-06AE-1A934DD3C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F5B75F2-A251-700F-F84B-54F1326D4A91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007020C-510C-FC1A-4EE9-7B43DEDE5E90}"/>
              </a:ext>
            </a:extLst>
          </p:cNvPr>
          <p:cNvSpPr txBox="1">
            <a:spLocks/>
          </p:cNvSpPr>
          <p:nvPr/>
        </p:nvSpPr>
        <p:spPr>
          <a:xfrm>
            <a:off x="718379" y="913919"/>
            <a:ext cx="395625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local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2E8F3-6A24-7394-CE26-4F167933A5A0}"/>
              </a:ext>
            </a:extLst>
          </p:cNvPr>
          <p:cNvSpPr txBox="1"/>
          <p:nvPr/>
        </p:nvSpPr>
        <p:spPr>
          <a:xfrm>
            <a:off x="0" y="1380347"/>
            <a:ext cx="939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Crie uma pasta no seu computador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Habilite a visualização da extensão dos arquivos e pastas ocultas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Crie os arquivos de programação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Abra algum terminal no caminho do diretório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 os comandos do Git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153A5F-96D8-668C-FE34-C5586FE9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3" t="52340" r="50000" b="23681"/>
          <a:stretch/>
        </p:blipFill>
        <p:spPr>
          <a:xfrm>
            <a:off x="2705988" y="3690611"/>
            <a:ext cx="6780024" cy="225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3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8F90-D70B-D30A-3139-EBEA33D8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453EA6-DEE1-11B7-06C9-D3E4AA6C8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0A2CBB0-A7EC-D832-BB90-BDFF46B25977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08FBD78-B79C-8194-9A26-ED04E258BA52}"/>
              </a:ext>
            </a:extLst>
          </p:cNvPr>
          <p:cNvSpPr txBox="1">
            <a:spLocks/>
          </p:cNvSpPr>
          <p:nvPr/>
        </p:nvSpPr>
        <p:spPr>
          <a:xfrm>
            <a:off x="658027" y="779497"/>
            <a:ext cx="330722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65D21-E1CE-B5D9-AE94-43BD10D9DA74}"/>
              </a:ext>
            </a:extLst>
          </p:cNvPr>
          <p:cNvSpPr txBox="1"/>
          <p:nvPr/>
        </p:nvSpPr>
        <p:spPr>
          <a:xfrm>
            <a:off x="0" y="1195684"/>
            <a:ext cx="11805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echo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"# tutorial" &gt;&gt; README.md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Escreve no arquivo README.md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Inicializa um repositório na pasta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Adiciona todos os arquivos na Staging Area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commit –m “first commit”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 o commit dos arquivos com uma mensagem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branch –M main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Renomeia a branch principal para main (nomenclatura moderna)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remote add... 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Conecta o repositório local ao seu repositório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push –u origin main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 o push do commit para o GitHub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5260CE-0B09-DA3F-2773-BEF36C5B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3" t="52340" r="50000" b="23681"/>
          <a:stretch/>
        </p:blipFill>
        <p:spPr>
          <a:xfrm>
            <a:off x="2820709" y="4573710"/>
            <a:ext cx="6550582" cy="217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8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3A14-1BC8-6D9E-265D-8A7BE27E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024C006-FBAD-3504-32A9-0051CEA36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8FFB7E0-A138-D348-4C41-5DD2A0C767A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55F50EB-06FD-4093-1C2C-BB7BDF70007F}"/>
              </a:ext>
            </a:extLst>
          </p:cNvPr>
          <p:cNvSpPr txBox="1">
            <a:spLocks/>
          </p:cNvSpPr>
          <p:nvPr/>
        </p:nvSpPr>
        <p:spPr>
          <a:xfrm>
            <a:off x="564022" y="719677"/>
            <a:ext cx="340722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no terminal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8616B-F8FB-CB9E-4A55-3E990057E38A}"/>
              </a:ext>
            </a:extLst>
          </p:cNvPr>
          <p:cNvSpPr txBox="1"/>
          <p:nvPr/>
        </p:nvSpPr>
        <p:spPr>
          <a:xfrm>
            <a:off x="0" y="1195684"/>
            <a:ext cx="71357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em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commit –m “mensagem de commit”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push –u origin main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F1FDF-7516-B3AC-DB2A-17DCDB35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45" r="33232" b="14263"/>
          <a:stretch/>
        </p:blipFill>
        <p:spPr>
          <a:xfrm>
            <a:off x="7743827" y="1019791"/>
            <a:ext cx="3898899" cy="25873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636DEC-0459-721F-4AEF-58D2DF9A4593}"/>
              </a:ext>
            </a:extLst>
          </p:cNvPr>
          <p:cNvSpPr txBox="1"/>
          <p:nvPr/>
        </p:nvSpPr>
        <p:spPr>
          <a:xfrm>
            <a:off x="1" y="3455558"/>
            <a:ext cx="70212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178381-4BE9-5E57-A888-7ACBF54AF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664" r="2903" b="14936"/>
          <a:stretch/>
        </p:blipFill>
        <p:spPr>
          <a:xfrm>
            <a:off x="3456976" y="4218037"/>
            <a:ext cx="5278048" cy="22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5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24B0-694A-DDD6-4892-BBF0C1D1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1AB42F-EF10-A2E7-FD56-C46D4A5D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35F8110-C780-0592-B01E-889AA7ED6AAA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EEDD9F6-C331-14B2-5C6F-8479B5275AFA}"/>
              </a:ext>
            </a:extLst>
          </p:cNvPr>
          <p:cNvSpPr txBox="1">
            <a:spLocks/>
          </p:cNvSpPr>
          <p:nvPr/>
        </p:nvSpPr>
        <p:spPr>
          <a:xfrm>
            <a:off x="719830" y="1376829"/>
            <a:ext cx="9124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414CA-A080-F2DA-E02A-1EC94F3D510A}"/>
              </a:ext>
            </a:extLst>
          </p:cNvPr>
          <p:cNvSpPr txBox="1"/>
          <p:nvPr/>
        </p:nvSpPr>
        <p:spPr>
          <a:xfrm>
            <a:off x="0" y="2063573"/>
            <a:ext cx="727247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 uma cópia local de um repositório existente, permitindo que você trabalhe e faça alterações no projeto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cópia local é totalmente funcional, o que significa que você pode editar arquivos e fazer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endParaRPr lang="pt-BR" sz="2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0E1269-272A-601C-3D25-18A0ADE67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4" r="3061"/>
          <a:stretch/>
        </p:blipFill>
        <p:spPr>
          <a:xfrm>
            <a:off x="8232122" y="2063573"/>
            <a:ext cx="3545038" cy="20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5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D0684-CE9D-1D68-6483-D58052EA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FB6DD20-EA37-CDEE-D1AD-F2E518E52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2F9F82B-5771-B0DD-3DAF-E487D88F10D5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1886CB6-FE87-9EAA-EEEF-0048A585457A}"/>
              </a:ext>
            </a:extLst>
          </p:cNvPr>
          <p:cNvSpPr txBox="1">
            <a:spLocks/>
          </p:cNvSpPr>
          <p:nvPr/>
        </p:nvSpPr>
        <p:spPr>
          <a:xfrm>
            <a:off x="690226" y="719444"/>
            <a:ext cx="335193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Clonando um repositório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81E01-53E7-B96F-A686-06824CE733D0}"/>
              </a:ext>
            </a:extLst>
          </p:cNvPr>
          <p:cNvSpPr txBox="1"/>
          <p:nvPr/>
        </p:nvSpPr>
        <p:spPr>
          <a:xfrm>
            <a:off x="0" y="1195684"/>
            <a:ext cx="11639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clonar um repositório do GitHub em um repositório local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Vá no repositório do GitHub e pegue o link dele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git clone &lt;link&gt;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clone https://github.com/HenriqueDelegrego/tutorial.git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Isso vai fazer com que o repositório do GitHub se conecte ao seu repositório local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EBDDFC-23FE-D95C-955D-59F16C4A6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8607"/>
          <a:stretch/>
        </p:blipFill>
        <p:spPr>
          <a:xfrm>
            <a:off x="408214" y="3635021"/>
            <a:ext cx="7806623" cy="27116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CC8C8-252F-B3B7-B4BC-87EEDE477BAD}"/>
              </a:ext>
            </a:extLst>
          </p:cNvPr>
          <p:cNvSpPr txBox="1"/>
          <p:nvPr/>
        </p:nvSpPr>
        <p:spPr>
          <a:xfrm>
            <a:off x="8326016" y="4371819"/>
            <a:ext cx="3686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fazer clone de um repositório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Fazer exercícios 1 e 2</a:t>
            </a:r>
          </a:p>
        </p:txBody>
      </p:sp>
    </p:spTree>
    <p:extLst>
      <p:ext uri="{BB962C8B-B14F-4D97-AF65-F5344CB8AC3E}">
        <p14:creationId xmlns:p14="http://schemas.microsoft.com/office/powerpoint/2010/main" val="427802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01AE-4D6F-43F5-08D2-A17A153B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C093869-27F6-3C30-A892-A7864AEFB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F563C3D7-6550-6956-572B-C0274B43F5C9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22D6F15-DD89-CFAA-B3F0-EF353F4206A6}"/>
              </a:ext>
            </a:extLst>
          </p:cNvPr>
          <p:cNvSpPr txBox="1">
            <a:spLocks/>
          </p:cNvSpPr>
          <p:nvPr/>
        </p:nvSpPr>
        <p:spPr>
          <a:xfrm>
            <a:off x="719829" y="1275557"/>
            <a:ext cx="107478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8A097-7419-ED2D-7C10-38877FACAF83}"/>
              </a:ext>
            </a:extLst>
          </p:cNvPr>
          <p:cNvSpPr txBox="1"/>
          <p:nvPr/>
        </p:nvSpPr>
        <p:spPr>
          <a:xfrm>
            <a:off x="0" y="2008209"/>
            <a:ext cx="6452075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Linha de desenvolvimento separada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Utilizado para organizar, isolar e controlar mudanças no código sem afetar diretamente o código principal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5DA17A-C2F7-A951-A7D0-AA7E0A736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4" t="6020" r="2792" b="27770"/>
          <a:stretch/>
        </p:blipFill>
        <p:spPr>
          <a:xfrm>
            <a:off x="6556587" y="1494492"/>
            <a:ext cx="5420810" cy="17951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F21050-A9E9-7CCE-BFB3-31918EE71978}"/>
              </a:ext>
            </a:extLst>
          </p:cNvPr>
          <p:cNvSpPr txBox="1"/>
          <p:nvPr/>
        </p:nvSpPr>
        <p:spPr>
          <a:xfrm>
            <a:off x="-1" y="3654814"/>
            <a:ext cx="11532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Possibilita desenvolver duas ou mais versões do software simultaneamente. Por exemplo, uma versão que tem o código funcionando, mas não possui novas funcionalidades e outra versão onde novas funcionalidades estão sendo trabalhadas</a:t>
            </a:r>
          </a:p>
        </p:txBody>
      </p:sp>
    </p:spTree>
    <p:extLst>
      <p:ext uri="{BB962C8B-B14F-4D97-AF65-F5344CB8AC3E}">
        <p14:creationId xmlns:p14="http://schemas.microsoft.com/office/powerpoint/2010/main" val="116431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11AC-6C8E-A6CE-C1D1-911AF365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3AF53A3-2891-656D-4E95-06CC837E4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AC6ABE5-5C1D-8FCD-584C-13E12E38DCA4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68DB460-F61B-6D4E-9606-AAA4C07C78EA}"/>
              </a:ext>
            </a:extLst>
          </p:cNvPr>
          <p:cNvSpPr txBox="1">
            <a:spLocks/>
          </p:cNvSpPr>
          <p:nvPr/>
        </p:nvSpPr>
        <p:spPr>
          <a:xfrm>
            <a:off x="764953" y="1144126"/>
            <a:ext cx="395401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Merge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(PR / MR)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A4313-2D17-A6BA-DBF8-BE186C92832E}"/>
              </a:ext>
            </a:extLst>
          </p:cNvPr>
          <p:cNvSpPr txBox="1"/>
          <p:nvPr/>
        </p:nvSpPr>
        <p:spPr>
          <a:xfrm>
            <a:off x="0" y="2139398"/>
            <a:ext cx="5954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um desenvolvedor propor alterações em um código para revisão antes que elas sejam incorporadas na branch principal do projeto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7642F-FD85-D67C-DCAD-3B50B59B2A64}"/>
              </a:ext>
            </a:extLst>
          </p:cNvPr>
          <p:cNvSpPr txBox="1"/>
          <p:nvPr/>
        </p:nvSpPr>
        <p:spPr>
          <a:xfrm>
            <a:off x="0" y="3709058"/>
            <a:ext cx="11353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aberto um espaço para que outros desenvolvedores revisem, discutam e sugiram modificações antes de as alterações serem mescladas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vez que o PR foi revisado e aprovado pelos membros necessários da equipe, pode ser feito o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as mudanças não forem necessárias ou soluções melhores terem sido encontradas, um PR pode não ser aceito e fechado sem ser feito o merge</a:t>
            </a:r>
          </a:p>
        </p:txBody>
      </p:sp>
      <p:pic>
        <p:nvPicPr>
          <p:cNvPr id="11" name="Picture 10" descr="Pull/Merge Requests: seguindo boas práticas | by Henrique Braga | luizalabs  | Medium">
            <a:extLst>
              <a:ext uri="{FF2B5EF4-FFF2-40B4-BE49-F238E27FC236}">
                <a16:creationId xmlns:a16="http://schemas.microsoft.com/office/drawing/2014/main" id="{5792287F-58BA-9D53-A978-31C74327D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2"/>
          <a:stretch/>
        </p:blipFill>
        <p:spPr bwMode="auto">
          <a:xfrm>
            <a:off x="6237732" y="1052582"/>
            <a:ext cx="5812535" cy="169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755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4343-8062-FEB3-7D00-996F94DB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99E8D23-7A89-C84C-FD82-8425E875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DAFFF8A-872B-B697-FF13-CC251F4C580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563AFF8-9762-618F-66AD-8817366BFDB1}"/>
              </a:ext>
            </a:extLst>
          </p:cNvPr>
          <p:cNvSpPr txBox="1">
            <a:spLocks/>
          </p:cNvSpPr>
          <p:nvPr/>
        </p:nvSpPr>
        <p:spPr>
          <a:xfrm>
            <a:off x="732079" y="1029101"/>
            <a:ext cx="101045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9E470-8A64-F273-5442-09A855E993AB}"/>
              </a:ext>
            </a:extLst>
          </p:cNvPr>
          <p:cNvSpPr txBox="1"/>
          <p:nvPr/>
        </p:nvSpPr>
        <p:spPr>
          <a:xfrm>
            <a:off x="0" y="1576329"/>
            <a:ext cx="7591244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combinar as alterações de uma branch em outro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conflito de merge (merge conflict)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acontece quando o Git não consegue mesclar automaticamente as alterações porque a mesma parte do código foi editada de maneiras diferentes em duas branches</a:t>
            </a:r>
          </a:p>
        </p:txBody>
      </p:sp>
      <p:pic>
        <p:nvPicPr>
          <p:cNvPr id="10" name="Picture 2" descr="Git - Merge - GeeksforGeeks">
            <a:extLst>
              <a:ext uri="{FF2B5EF4-FFF2-40B4-BE49-F238E27FC236}">
                <a16:creationId xmlns:a16="http://schemas.microsoft.com/office/drawing/2014/main" id="{1F6F4B60-D37A-1C70-9CDA-A82E14203F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0228" r="553" b="7926"/>
          <a:stretch/>
        </p:blipFill>
        <p:spPr bwMode="auto">
          <a:xfrm>
            <a:off x="7896748" y="1420292"/>
            <a:ext cx="4000623" cy="218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5BB9AA-2269-622E-5C3A-852CC9BF7157}"/>
              </a:ext>
            </a:extLst>
          </p:cNvPr>
          <p:cNvSpPr txBox="1"/>
          <p:nvPr/>
        </p:nvSpPr>
        <p:spPr>
          <a:xfrm>
            <a:off x="0" y="3961597"/>
            <a:ext cx="1168879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dica é sempre ter coordenação com a sua equipe sobre quais arquivos serão modificados e trabalhar com a versão atualizada dos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Merge conflicts podem ocorrer por: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Edições simultâneas: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Duas pessoas modificam as mesmas linhas em um arquivo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Exclusão vs. Modificação: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pessoa exclui um arquivo enquanto outra o edita</a:t>
            </a:r>
          </a:p>
        </p:txBody>
      </p:sp>
    </p:spTree>
    <p:extLst>
      <p:ext uri="{BB962C8B-B14F-4D97-AF65-F5344CB8AC3E}">
        <p14:creationId xmlns:p14="http://schemas.microsoft.com/office/powerpoint/2010/main" val="3393241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1FB5-ECD7-2175-3512-7D9A801A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FCEA684-C4A7-80F0-8377-C20AA97BD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0317B5C-B8D2-964A-0399-9228F6C65377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4F89C35-DB6A-A2FD-E635-A0C1892B8EB6}"/>
              </a:ext>
            </a:extLst>
          </p:cNvPr>
          <p:cNvSpPr txBox="1">
            <a:spLocks/>
          </p:cNvSpPr>
          <p:nvPr/>
        </p:nvSpPr>
        <p:spPr>
          <a:xfrm>
            <a:off x="707317" y="853954"/>
            <a:ext cx="2881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Criando outra branch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749BC-1F33-F66E-B2EB-568BA416A051}"/>
              </a:ext>
            </a:extLst>
          </p:cNvPr>
          <p:cNvSpPr txBox="1"/>
          <p:nvPr/>
        </p:nvSpPr>
        <p:spPr>
          <a:xfrm>
            <a:off x="0" y="1348414"/>
            <a:ext cx="118599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criar uma outra branch: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checkout -b &lt;nome da branch&gt;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se locomover entre branches já existentes, repita o código omitindo 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&lt;-b&gt;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Mencione o nome da branch no push: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push -u origin nova-branch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Abra o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 GitHub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66266-1F54-475E-8820-4D1EA2775D47}"/>
              </a:ext>
            </a:extLst>
          </p:cNvPr>
          <p:cNvSpPr txBox="1"/>
          <p:nvPr/>
        </p:nvSpPr>
        <p:spPr>
          <a:xfrm>
            <a:off x="7445829" y="4198153"/>
            <a:ext cx="44880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Fazer exercício 3 e 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AB0B84-A59E-ECD9-546B-B2550F1CC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17" y="3764519"/>
            <a:ext cx="5799246" cy="25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5A24-9036-72DB-7BA9-DF78090C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26B813-4716-E305-FFB9-753FA3E5B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177C101-DEBB-B5ED-2547-20634D658155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A4CB269-7791-8EC3-415B-81E856480BA6}"/>
              </a:ext>
            </a:extLst>
          </p:cNvPr>
          <p:cNvSpPr txBox="1">
            <a:spLocks/>
          </p:cNvSpPr>
          <p:nvPr/>
        </p:nvSpPr>
        <p:spPr>
          <a:xfrm>
            <a:off x="710296" y="1048398"/>
            <a:ext cx="75879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A3A33-7F1B-8199-9EAE-19E2001E016D}"/>
              </a:ext>
            </a:extLst>
          </p:cNvPr>
          <p:cNvSpPr txBox="1"/>
          <p:nvPr/>
        </p:nvSpPr>
        <p:spPr>
          <a:xfrm>
            <a:off x="0" y="1929252"/>
            <a:ext cx="78377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criar uma cópia pessoal de um repositório, tipicamente de projetos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Feito para implementar novas funcionalidades ou consertar bugs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 a opção de contribuir com o projeto original a partir de um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08158F5-22A0-C013-000E-4D1B0DE87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3" t="34966" r="11133" b="16055"/>
          <a:stretch>
            <a:fillRect/>
          </a:stretch>
        </p:blipFill>
        <p:spPr bwMode="auto">
          <a:xfrm>
            <a:off x="8778667" y="1929252"/>
            <a:ext cx="2847275" cy="28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31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2436-CB2F-7CAF-FF17-21A72145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2C0F44C-A568-2EF5-F5A1-C529BC50C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DA0DB51-7715-C293-225F-5FEBDBDC4E96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8ACA71F-A423-99B5-A8BF-643CCDCE405D}"/>
              </a:ext>
            </a:extLst>
          </p:cNvPr>
          <p:cNvSpPr txBox="1">
            <a:spLocks/>
          </p:cNvSpPr>
          <p:nvPr/>
        </p:nvSpPr>
        <p:spPr>
          <a:xfrm>
            <a:off x="742951" y="984726"/>
            <a:ext cx="21969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51EA3-E0AA-9C4F-58F5-8F10441560FE}"/>
              </a:ext>
            </a:extLst>
          </p:cNvPr>
          <p:cNvSpPr txBox="1"/>
          <p:nvPr/>
        </p:nvSpPr>
        <p:spPr>
          <a:xfrm>
            <a:off x="20905" y="1614143"/>
            <a:ext cx="1130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Aplicativo de interface gráfica (GUI) para interação com repositórios do GitHub</a:t>
            </a:r>
          </a:p>
        </p:txBody>
      </p:sp>
      <p:pic>
        <p:nvPicPr>
          <p:cNvPr id="9" name="Picture 4" descr="Getting started with Git and GitHub is easier than ever with GitHub Desktop  2.2 - The GitHub Blog">
            <a:extLst>
              <a:ext uri="{FF2B5EF4-FFF2-40B4-BE49-F238E27FC236}">
                <a16:creationId xmlns:a16="http://schemas.microsoft.com/office/drawing/2014/main" id="{ABB68CA7-8235-82BD-7427-468F1056B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39" y="2511591"/>
            <a:ext cx="5772722" cy="37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18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1528</Words>
  <Application>Microsoft Office PowerPoint</Application>
  <PresentationFormat>Widescreen</PresentationFormat>
  <Paragraphs>181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1</cp:revision>
  <dcterms:created xsi:type="dcterms:W3CDTF">2026-03-29T23:12:05Z</dcterms:created>
  <dcterms:modified xsi:type="dcterms:W3CDTF">2026-03-31T00:49:54Z</dcterms:modified>
</cp:coreProperties>
</file>